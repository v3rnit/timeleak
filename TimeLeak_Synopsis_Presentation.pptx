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project title, and thank the panel for their time. TimeLeak is a two-part minor project: a deliberately vulnerable demo app and a statistical detector that finds CWE-203 side-channel leaks in authentication endpoints.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roadmap. Nine stops, mirroring the synopsis document's required sections, ending with real evaluation results rather than projected ones since the prototype is already built and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literally what /login/v1 in the demo app does. bcrypt.checkpw only runs on the 'user exists' path, so it costs real CPU time. That's the whole vulnerability in one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Three-part motivation: the downstream risk, the blind spot developers leave, and the tooling gap this project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SMART objectives, each already met by the working prototype — this isn't purely prospective, it's been built and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deliberate architectural split — target and detector only ever talk over plain HTTP, so the detector generalizes beyond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Emphasize that this was validated incrementally, not built all at once and tested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dual-test-agreement rule matters: in our own precision test, Mann-Whitney alone dipped under 0.05 once by chance, but Welch didn't agree, so no false positive was raised.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feasibility angles, each backed by something already true today, not just projected.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dependency is open-source and free; that's a deliberate design choice, not an accident.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Chart: each dot is one full scan's p-value. Green = correctly reported no leak. The dashed line is the α=0.05 threshold — every run stayed clear of it in the final combined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artificially padded the fast path with ?inject_delay_ms= to shrink the real timing gap. Even at 50ms of padding — reducing the real gap to ~5ms — the detector still caught it with a large effect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panel: p-value collapses toward zero as N grows (log scale). Bottom panel: effect size stays large and roughly stable across every tested N — it's not an artifact of sample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scope discussion by separating what's already delivered from what's genuinely future work, so the panel sees a clear line between the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Have the live demo (localhost:5000 + a generated report) ready in case the panel wants to see it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TIMELEAK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SYNOPSIS PRESENTATION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TimeLeak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Side-Channel Timing &amp; Response-Size Leakage Detector for Web Authentication Forms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70F2B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5138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440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Vernit Singh Rana  [Roll No.: __________]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5138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SUPERVISION OF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5440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of Guide], [Designation]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5138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5440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Technology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Akhilesh Das Gupta Institute of Professional Studies  ·  Department of CST  ·  August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6656" y="246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TIMELEAK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59105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523744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345643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35254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438912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528523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5321808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04888" y="159105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Architecture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46520" y="2487168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104888" y="2523744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Stack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446520" y="3419856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4652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104888" y="345643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(real evaluation data)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446520" y="4352544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104888" y="438912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&amp; Future Work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6656" y="246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TIMELEAK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CWE-203 (Observable Discrepancy)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can leak which usernames exist — without ever revealing a password — simply by responding even slightly differently for a valid vs. an invalid account.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170F2B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32004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CWE-203: “Observable Discrepancy”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587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guessing required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51713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Fuels credential stuffing &amp; phishing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17550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scanners flag it heuristically, with no statistical confidence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5212080" cy="4846320"/>
          </a:xfrm>
          <a:prstGeom prst="roundRect">
            <a:avLst>
              <a:gd name="adj" fmla="val 2264"/>
            </a:avLst>
          </a:prstGeom>
          <a:solidFill>
            <a:srgbClr val="1F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0" y="192024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70F2B"/>
          </a:solidFill>
          <a:ln w="12700">
            <a:solidFill>
              <a:srgbClr val="9A8F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0" y="192024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70F2B"/>
          </a:solidFill>
          <a:ln w="12700">
            <a:solidFill>
              <a:srgbClr val="9A8F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2880360"/>
            <a:ext cx="1188720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850392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(valid)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953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 ms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412480" y="4160520"/>
            <a:ext cx="11887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850392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notauser (invalid)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233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 ms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507492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request shape. Different internal codepath (bcrypt runs only when the user exists). The timing gap alone reveals the answer.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6656" y="246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TIMELEAK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94360" cy="59436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463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Enumeration fuels bigger attacks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659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list of valid accounts makes credential stuffing, password spraying, and targeted phishing dramatically more efficient.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63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Developers patch the obvious leak, miss the subtle one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5661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 “user not found” message gets fixed; a 65ms timing gap or a 158-byte size difference usually doesn't.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6634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lightweight, statistically rigorous tool existed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51663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Scanners like Burp/ZAP offer heuristic checks with no p-value, no effect size, no stated confidence.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6656" y="246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TIMELEAK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F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536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828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endpoints can leak account existence via timing / size discrepancies (CWE-203) — no free, statistically rigorous tool exists to reproduce and detect this hands-on.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OBJECTIVES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70F2B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demo app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8920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leak variants + 1 patched control, runnable in &lt; 5 minutes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34290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70F2B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56616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detector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48920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 + Mann-Whitney U + Cohen's d, α = 0.05, 0 false positives / 10 runs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34290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70F2B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5508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experiments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48920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minimum detectable gap &amp; minimum sample size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15400" y="34290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70F2B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14400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48920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 reports + a documented CLI (scan / experiment / index)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6656" y="246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TIMELEAK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Components, One HTTP Boundary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663440" cy="3566160"/>
          </a:xfrm>
          <a:prstGeom prst="roundRect">
            <a:avLst>
              <a:gd name="adj" fmla="val 3077"/>
            </a:avLst>
          </a:prstGeom>
          <a:solidFill>
            <a:srgbClr val="170F2B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demo-app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SQLite target application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/login/v1 — timing leak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840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/login/v2 — response-size leak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343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/login/v3 — patched control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846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/signup — enumeration leak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0" y="2103120"/>
            <a:ext cx="4663440" cy="3566160"/>
          </a:xfrm>
          <a:prstGeom prst="roundRect">
            <a:avLst>
              <a:gd name="adj" fmla="val 3077"/>
            </a:avLst>
          </a:prstGeom>
          <a:solidFill>
            <a:srgbClr val="170F2B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13232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 — treats any endpoint as a black box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harness.py — interleaved sampling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3840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analysis.py — statistical verdict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4343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— interactive HTML report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846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scan / experiment / index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303520" y="3886200"/>
            <a:ext cx="155448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triangl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30352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separation means the detector isn't limited to the bundled demo — it can scan any authenticated endpoint you have permission to test.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6656" y="246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TIMELEAK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Methodology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170F2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65960" y="3246120"/>
            <a:ext cx="190500" cy="0"/>
          </a:xfrm>
          <a:prstGeom prst="line">
            <a:avLst/>
          </a:prstGeom>
          <a:noFill/>
          <a:ln w="19050">
            <a:solidFill>
              <a:srgbClr val="9A8FC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56460" y="26517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170F2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5646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73780" y="3246120"/>
            <a:ext cx="190500" cy="0"/>
          </a:xfrm>
          <a:prstGeom prst="line">
            <a:avLst/>
          </a:prstGeom>
          <a:noFill/>
          <a:ln w="19050">
            <a:solidFill>
              <a:srgbClr val="9A8F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64280" y="26517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170F2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6428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81600" y="3246120"/>
            <a:ext cx="190500" cy="0"/>
          </a:xfrm>
          <a:prstGeom prst="line">
            <a:avLst/>
          </a:prstGeom>
          <a:noFill/>
          <a:ln w="19050">
            <a:solidFill>
              <a:srgbClr val="9A8F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72100" y="26517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170F2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7210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89420" y="3246120"/>
            <a:ext cx="190500" cy="0"/>
          </a:xfrm>
          <a:prstGeom prst="line">
            <a:avLst/>
          </a:prstGeom>
          <a:noFill/>
          <a:ln w="19050">
            <a:solidFill>
              <a:srgbClr val="9A8F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79920" y="26517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170F2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7992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97240" y="3246120"/>
            <a:ext cx="190500" cy="0"/>
          </a:xfrm>
          <a:prstGeom prst="line">
            <a:avLst/>
          </a:prstGeom>
          <a:noFill/>
          <a:ln w="19050">
            <a:solidFill>
              <a:srgbClr val="9A8F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87740" y="26517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170F2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8774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05060" y="3246120"/>
            <a:ext cx="190500" cy="0"/>
          </a:xfrm>
          <a:prstGeom prst="line">
            <a:avLst/>
          </a:prstGeom>
          <a:noFill/>
          <a:ln w="19050">
            <a:solidFill>
              <a:srgbClr val="9A8FC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195560" y="26517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170F2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9556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Synopsis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297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Iterative, phase-based: each stage was tested against the live demo app before moving to the next. All seven phases are complete and validated against real scan data.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737360" y="5212080"/>
            <a:ext cx="8686800" cy="1051560"/>
          </a:xfrm>
          <a:prstGeom prst="roundRect">
            <a:avLst>
              <a:gd name="adj" fmla="val 10435"/>
            </a:avLst>
          </a:prstGeom>
          <a:solidFill>
            <a:srgbClr val="1F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965960" y="5440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 →  System design  →  Technology selection  →  </a:t>
            </a:r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  →  DB/API integration  →  Testing &amp; validation  →  Deployment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6656" y="246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TIMELEAK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Verdict Is Reached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" cy="82296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3990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Interleaved Sampling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399032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Valid, invalid, valid, invalid… never two separate batches — cancels out network jitter and warm-up drift equally on both groups.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09728" cy="82296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5059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Welch's t-test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450592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group means without assuming equal variance. Sensitive to outliers.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09728" cy="82296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50215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Mann-Whitney U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502152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full distributions, not just means — robust to non-normal timing data. The primary test.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09728" cy="82296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55371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Cohen's d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4553712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size: is the difference practically meaningful, not just statistically detectable? d &lt; 0.2 is ignored even if p is tiny.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F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56235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= LEAK only if Welch AND Mann-Whitney both fall below α = 0.05, AND the effect size is non-negligible.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6656" y="246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TIMELEAK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170F2B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73736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free, cross-platform stack (Python, Flask, SQLite, NumPy, SciPy). Already implemented and validated end-to-end.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170F2B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73736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14884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licensing cost. Runs locally by default; optional demo deployment on Render.com's free tier.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170F2B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069080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39593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48056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Two-command setup. Self-contained HTML output — no server or extra software needed to view results.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379476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170F2B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4069080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39593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48056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one semester. As of this synopsis, all core phases are complete and exercised against real data.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6656" y="246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TIMELEAK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Stack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APP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1563624" cy="502920"/>
          </a:xfrm>
          <a:prstGeom prst="roundRect">
            <a:avLst>
              <a:gd name="adj" fmla="val 50909"/>
            </a:avLst>
          </a:prstGeom>
          <a:solidFill>
            <a:srgbClr val="170F2B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38528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40864" y="1938528"/>
            <a:ext cx="891540" cy="502920"/>
          </a:xfrm>
          <a:prstGeom prst="roundRect">
            <a:avLst>
              <a:gd name="adj" fmla="val 50909"/>
            </a:avLst>
          </a:prstGeom>
          <a:solidFill>
            <a:srgbClr val="170F2B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40864" y="1938528"/>
            <a:ext cx="891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61004" y="1938528"/>
            <a:ext cx="987552" cy="502920"/>
          </a:xfrm>
          <a:prstGeom prst="roundRect">
            <a:avLst>
              <a:gd name="adj" fmla="val 50909"/>
            </a:avLst>
          </a:prstGeom>
          <a:solidFill>
            <a:srgbClr val="170F2B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61004" y="193852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77156" y="1938528"/>
            <a:ext cx="987552" cy="502920"/>
          </a:xfrm>
          <a:prstGeom prst="roundRect">
            <a:avLst>
              <a:gd name="adj" fmla="val 50909"/>
            </a:avLst>
          </a:prstGeom>
          <a:solidFill>
            <a:srgbClr val="170F2B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77156" y="193852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93308" y="1938528"/>
            <a:ext cx="1179576" cy="502920"/>
          </a:xfrm>
          <a:prstGeom prst="roundRect">
            <a:avLst>
              <a:gd name="adj" fmla="val 50909"/>
            </a:avLst>
          </a:prstGeom>
          <a:solidFill>
            <a:srgbClr val="170F2B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93308" y="1938528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172968"/>
            <a:ext cx="1179576" cy="502920"/>
          </a:xfrm>
          <a:prstGeom prst="roundRect">
            <a:avLst>
              <a:gd name="adj" fmla="val 50909"/>
            </a:avLst>
          </a:prstGeom>
          <a:solidFill>
            <a:srgbClr val="170F2B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172968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56816" y="3172968"/>
            <a:ext cx="891540" cy="502920"/>
          </a:xfrm>
          <a:prstGeom prst="roundRect">
            <a:avLst>
              <a:gd name="adj" fmla="val 50909"/>
            </a:avLst>
          </a:prstGeom>
          <a:solidFill>
            <a:srgbClr val="170F2B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56816" y="3172968"/>
            <a:ext cx="891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76956" y="3172968"/>
            <a:ext cx="891540" cy="502920"/>
          </a:xfrm>
          <a:prstGeom prst="roundRect">
            <a:avLst>
              <a:gd name="adj" fmla="val 50909"/>
            </a:avLst>
          </a:prstGeom>
          <a:solidFill>
            <a:srgbClr val="170F2B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76956" y="3172968"/>
            <a:ext cx="891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97096" y="3172968"/>
            <a:ext cx="1371600" cy="502920"/>
          </a:xfrm>
          <a:prstGeom prst="roundRect">
            <a:avLst>
              <a:gd name="adj" fmla="val 50909"/>
            </a:avLst>
          </a:prstGeom>
          <a:solidFill>
            <a:srgbClr val="170F2B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97096" y="31729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97296" y="3172968"/>
            <a:ext cx="1179576" cy="502920"/>
          </a:xfrm>
          <a:prstGeom prst="roundRect">
            <a:avLst>
              <a:gd name="adj" fmla="val 50909"/>
            </a:avLst>
          </a:prstGeom>
          <a:solidFill>
            <a:srgbClr val="170F2B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97296" y="3172968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TOOLING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407408"/>
            <a:ext cx="2043684" cy="502920"/>
          </a:xfrm>
          <a:prstGeom prst="roundRect">
            <a:avLst>
              <a:gd name="adj" fmla="val 50909"/>
            </a:avLst>
          </a:prstGeom>
          <a:solidFill>
            <a:srgbClr val="170F2B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407408"/>
            <a:ext cx="2043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JS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820924" y="4407408"/>
            <a:ext cx="1371600" cy="502920"/>
          </a:xfrm>
          <a:prstGeom prst="roundRect">
            <a:avLst>
              <a:gd name="adj" fmla="val 50909"/>
            </a:avLst>
          </a:prstGeom>
          <a:solidFill>
            <a:srgbClr val="170F2B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20924" y="44074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SVG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421124" y="4407408"/>
            <a:ext cx="1563624" cy="502920"/>
          </a:xfrm>
          <a:prstGeom prst="roundRect">
            <a:avLst>
              <a:gd name="adj" fmla="val 50909"/>
            </a:avLst>
          </a:prstGeom>
          <a:solidFill>
            <a:srgbClr val="170F2B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21124" y="4407408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13348" y="4407408"/>
            <a:ext cx="795528" cy="502920"/>
          </a:xfrm>
          <a:prstGeom prst="roundRect">
            <a:avLst>
              <a:gd name="adj" fmla="val 50909"/>
            </a:avLst>
          </a:prstGeom>
          <a:solidFill>
            <a:srgbClr val="170F2B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3348" y="4407408"/>
            <a:ext cx="795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F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22960" y="5303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services, cloud databases, or proprietary SDKs anywhere in the stack — total cost of ownership: zero.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6656" y="246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TIMELEAK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Precision Test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from this project's own evaluation run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10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repeated scans against the patched control (/login/v3). Every run correctly reported no leak — including one where Mann-Whitney alone dipped to p = 0.026, caught by the dual-test-agreement rule.</a:t>
            </a:r>
            <a:endParaRPr lang="en-US" sz="1350" dirty="0"/>
          </a:p>
        </p:txBody>
      </p:sp>
      <p:pic>
        <p:nvPicPr>
          <p:cNvPr id="9" name="Image 0" descr="C:\Users\Vernit Singh Rana\Desktop\MINOR\detector\reports\experiments\precision_20260825_0621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27200"/>
            <a:ext cx="6949440" cy="38608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6656" y="246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TIMELEAK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Sensitivity Test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small a leak can TimeLeak still catch?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ms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gap still detected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417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delays all caught</a:t>
            </a:r>
            <a:endParaRPr lang="en-US" sz="1200" dirty="0"/>
          </a:p>
        </p:txBody>
      </p:sp>
      <p:pic>
        <p:nvPicPr>
          <p:cNvPr id="10" name="Image 0" descr="C:\Users\Vernit Singh Rana\Desktop\MINOR\detector\reports\experiments\sensitivity_20260825_065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697480"/>
            <a:ext cx="9144000" cy="38100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6656" y="246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TIMELEAK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Sample-Size Study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requests does a confident verdict need?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10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per group is already enough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N = 10, 25, 50, 100, 250, 500 against the timing-leak endpoint — every size reported a high-confidence leak. The vulnerability here is large enough that more samples mainly sharpen the p-value, not the verdict.</a:t>
            </a:r>
            <a:endParaRPr lang="en-US" sz="1350" dirty="0"/>
          </a:p>
        </p:txBody>
      </p:sp>
      <p:pic>
        <p:nvPicPr>
          <p:cNvPr id="9" name="Image 0" descr="C:\Users\Vernit Singh Rana\Desktop\MINOR\detector\reports\experiments\sample_size_20260825_0756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9380" y="1280160"/>
            <a:ext cx="5143500" cy="45720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6656" y="246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TIMELEAK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 &amp; Future 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170F2B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TODAY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48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students, junior devs, small teams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Pre-deployment review of login / signup flows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03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teaching aid for security courses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480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check after a fix — statistical, not “looks fine”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46304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170F2B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8368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148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Password-reset &amp; OTP-verification flows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926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/ session-based endpoints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703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 — fail a build automatically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480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5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for live discrepancy warnings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TIMELEAK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TimeLeak — a statistically rigorous side-channel detector for CWE-203, built, tested, and evaluated end-to-end.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Vernit Singh Rana  ·  B.Tech CST  ·  Dr. Akhilesh Das Gupta Institute of Professional Studies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2026-09-07T18:28:11Z</dcterms:created>
  <dcterms:modified xsi:type="dcterms:W3CDTF">2026-09-07T18:28:11Z</dcterms:modified>
</cp:coreProperties>
</file>